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8" r:id="rId3"/>
    <p:sldId id="259" r:id="rId4"/>
    <p:sldId id="261" r:id="rId5"/>
    <p:sldId id="263" r:id="rId6"/>
    <p:sldId id="260"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96" d="100"/>
          <a:sy n="96" d="100"/>
        </p:scale>
        <p:origin x="86" y="13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11/1/2023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11/1/2023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11/1/2023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11/1/2023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11/1/2023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11/1/2023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11/1/2023</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0BC2A-2532-C21C-07EB-5E91BC3A9F96}"/>
              </a:ext>
            </a:extLst>
          </p:cNvPr>
          <p:cNvSpPr>
            <a:spLocks noGrp="1"/>
          </p:cNvSpPr>
          <p:nvPr>
            <p:ph type="ctrTitle"/>
          </p:nvPr>
        </p:nvSpPr>
        <p:spPr/>
        <p:txBody>
          <a:bodyPr>
            <a:normAutofit fontScale="90000"/>
          </a:bodyPr>
          <a:lstStyle/>
          <a:p>
            <a:pPr rtl="0">
              <a:spcBef>
                <a:spcPts val="0"/>
              </a:spcBef>
              <a:spcAft>
                <a:spcPts val="0"/>
              </a:spcAft>
            </a:pPr>
            <a:br>
              <a:rPr lang="en-US" sz="3600" b="1" i="0" u="none" strike="noStrike" dirty="0">
                <a:effectLst/>
                <a:latin typeface="Times New Roman" panose="02020603050405020304" pitchFamily="18" charset="0"/>
                <a:cs typeface="Times New Roman" panose="02020603050405020304" pitchFamily="18" charset="0"/>
              </a:rPr>
            </a:br>
            <a:br>
              <a:rPr lang="en-US" sz="3600" b="1" i="0" u="none" strike="noStrike" dirty="0">
                <a:effectLst/>
                <a:latin typeface="Times New Roman" panose="02020603050405020304" pitchFamily="18" charset="0"/>
                <a:cs typeface="Times New Roman" panose="02020603050405020304" pitchFamily="18" charset="0"/>
              </a:rPr>
            </a:br>
            <a:br>
              <a:rPr lang="en-US" sz="3600" b="1" i="0" u="none" strike="noStrike" dirty="0">
                <a:effectLst/>
                <a:latin typeface="Times New Roman" panose="02020603050405020304" pitchFamily="18" charset="0"/>
                <a:cs typeface="Times New Roman" panose="02020603050405020304" pitchFamily="18" charset="0"/>
              </a:rPr>
            </a:br>
            <a:br>
              <a:rPr lang="en-US" sz="3600" b="1" i="0" u="none" strike="noStrike" dirty="0">
                <a:effectLst/>
                <a:latin typeface="Times New Roman" panose="02020603050405020304" pitchFamily="18" charset="0"/>
                <a:cs typeface="Times New Roman" panose="02020603050405020304" pitchFamily="18" charset="0"/>
              </a:rPr>
            </a:br>
            <a:br>
              <a:rPr lang="en-US" sz="3600" b="1" i="0" u="none" strike="noStrike" dirty="0">
                <a:effectLst/>
                <a:latin typeface="Times New Roman" panose="02020603050405020304" pitchFamily="18" charset="0"/>
                <a:cs typeface="Times New Roman" panose="02020603050405020304" pitchFamily="18" charset="0"/>
              </a:rPr>
            </a:br>
            <a:br>
              <a:rPr lang="en-US" sz="3600" b="1" i="0" u="none" strike="noStrike" dirty="0">
                <a:effectLst/>
                <a:latin typeface="Times New Roman" panose="02020603050405020304" pitchFamily="18" charset="0"/>
                <a:cs typeface="Times New Roman" panose="02020603050405020304" pitchFamily="18" charset="0"/>
              </a:rPr>
            </a:br>
            <a:br>
              <a:rPr lang="en-US" sz="3600" b="1" i="0" u="none" strike="noStrike" dirty="0">
                <a:effectLst/>
                <a:latin typeface="Times New Roman" panose="02020603050405020304" pitchFamily="18" charset="0"/>
                <a:cs typeface="Times New Roman" panose="02020603050405020304" pitchFamily="18" charset="0"/>
              </a:rPr>
            </a:br>
            <a:br>
              <a:rPr lang="en-US" sz="3600" b="1" i="0" u="none" strike="noStrike" dirty="0">
                <a:effectLst/>
                <a:latin typeface="Times New Roman" panose="02020603050405020304" pitchFamily="18" charset="0"/>
                <a:cs typeface="Times New Roman" panose="02020603050405020304" pitchFamily="18" charset="0"/>
              </a:rPr>
            </a:br>
            <a:br>
              <a:rPr lang="en-US" sz="3600" b="1" i="0" u="none" strike="noStrike" dirty="0">
                <a:effectLst/>
                <a:latin typeface="Times New Roman" panose="02020603050405020304" pitchFamily="18" charset="0"/>
                <a:cs typeface="Times New Roman" panose="02020603050405020304" pitchFamily="18" charset="0"/>
              </a:rPr>
            </a:br>
            <a:br>
              <a:rPr lang="en-US" sz="3600" b="1" i="0" u="none" strike="noStrike" dirty="0">
                <a:effectLst/>
                <a:latin typeface="Times New Roman" panose="02020603050405020304" pitchFamily="18" charset="0"/>
                <a:cs typeface="Times New Roman" panose="02020603050405020304" pitchFamily="18" charset="0"/>
              </a:rPr>
            </a:br>
            <a:br>
              <a:rPr lang="en-US" sz="3600" b="1" i="0" u="none" strike="noStrike" dirty="0">
                <a:effectLst/>
                <a:latin typeface="Times New Roman" panose="02020603050405020304" pitchFamily="18" charset="0"/>
                <a:cs typeface="Times New Roman" panose="02020603050405020304" pitchFamily="18" charset="0"/>
              </a:rPr>
            </a:br>
            <a:br>
              <a:rPr lang="en-US" sz="3600" b="1" i="0" u="none" strike="noStrike" dirty="0">
                <a:effectLst/>
                <a:latin typeface="Times New Roman" panose="02020603050405020304" pitchFamily="18" charset="0"/>
                <a:cs typeface="Times New Roman" panose="02020603050405020304" pitchFamily="18" charset="0"/>
              </a:rPr>
            </a:br>
            <a:br>
              <a:rPr lang="en-US" sz="3600" b="1" i="0" u="none" strike="noStrike" dirty="0">
                <a:effectLst/>
                <a:latin typeface="Times New Roman" panose="02020603050405020304" pitchFamily="18" charset="0"/>
                <a:cs typeface="Times New Roman" panose="02020603050405020304" pitchFamily="18" charset="0"/>
              </a:rPr>
            </a:br>
            <a:br>
              <a:rPr lang="en-US" sz="3600" b="1" i="0" u="none" strike="noStrike" dirty="0">
                <a:effectLst/>
                <a:latin typeface="Times New Roman" panose="02020603050405020304" pitchFamily="18" charset="0"/>
                <a:cs typeface="Times New Roman" panose="02020603050405020304" pitchFamily="18" charset="0"/>
              </a:rPr>
            </a:br>
            <a:br>
              <a:rPr lang="en-US" sz="3600" b="1" i="0" u="none" strike="noStrike" dirty="0">
                <a:effectLst/>
                <a:latin typeface="Times New Roman" panose="02020603050405020304" pitchFamily="18" charset="0"/>
                <a:cs typeface="Times New Roman" panose="02020603050405020304" pitchFamily="18" charset="0"/>
              </a:rPr>
            </a:br>
            <a:br>
              <a:rPr lang="en-US" sz="3600" b="1" i="0" u="none" strike="noStrike" dirty="0">
                <a:effectLst/>
                <a:latin typeface="Times New Roman" panose="02020603050405020304" pitchFamily="18" charset="0"/>
                <a:cs typeface="Times New Roman" panose="02020603050405020304" pitchFamily="18" charset="0"/>
              </a:rPr>
            </a:br>
            <a:br>
              <a:rPr lang="en-US" sz="3600" b="1" i="0" u="none" strike="noStrike" dirty="0">
                <a:effectLst/>
                <a:latin typeface="Times New Roman" panose="02020603050405020304" pitchFamily="18" charset="0"/>
                <a:cs typeface="Times New Roman" panose="02020603050405020304" pitchFamily="18" charset="0"/>
              </a:rPr>
            </a:br>
            <a:br>
              <a:rPr lang="en-US" sz="3600" b="1" i="0" u="none" strike="noStrike" dirty="0">
                <a:effectLst/>
                <a:latin typeface="Times New Roman" panose="02020603050405020304" pitchFamily="18" charset="0"/>
                <a:cs typeface="Times New Roman" panose="02020603050405020304" pitchFamily="18" charset="0"/>
              </a:rPr>
            </a:br>
            <a:br>
              <a:rPr lang="en-US" sz="3600" b="1" i="0" u="none" strike="noStrike" dirty="0">
                <a:effectLst/>
                <a:latin typeface="Times New Roman" panose="02020603050405020304" pitchFamily="18" charset="0"/>
                <a:cs typeface="Times New Roman" panose="02020603050405020304" pitchFamily="18" charset="0"/>
              </a:rPr>
            </a:br>
            <a:br>
              <a:rPr lang="en-US" sz="3600" b="1" i="0" u="none" strike="noStrike" dirty="0">
                <a:effectLst/>
                <a:latin typeface="Times New Roman" panose="02020603050405020304" pitchFamily="18" charset="0"/>
                <a:cs typeface="Times New Roman" panose="02020603050405020304" pitchFamily="18" charset="0"/>
              </a:rPr>
            </a:br>
            <a:br>
              <a:rPr lang="en-US" sz="3600" b="1" i="0" u="none" strike="noStrike" dirty="0">
                <a:effectLst/>
                <a:latin typeface="Times New Roman" panose="02020603050405020304" pitchFamily="18" charset="0"/>
                <a:cs typeface="Times New Roman" panose="02020603050405020304" pitchFamily="18" charset="0"/>
              </a:rPr>
            </a:br>
            <a:br>
              <a:rPr lang="en-US" sz="3600" b="1" i="0" u="none" strike="noStrike" dirty="0">
                <a:effectLst/>
                <a:latin typeface="Times New Roman" panose="02020603050405020304" pitchFamily="18" charset="0"/>
                <a:cs typeface="Times New Roman" panose="02020603050405020304" pitchFamily="18" charset="0"/>
              </a:rPr>
            </a:br>
            <a:br>
              <a:rPr lang="en-US" sz="3600" b="1" i="0" u="none" strike="noStrike" dirty="0">
                <a:effectLst/>
                <a:latin typeface="Times New Roman" panose="02020603050405020304" pitchFamily="18" charset="0"/>
                <a:cs typeface="Times New Roman" panose="02020603050405020304" pitchFamily="18" charset="0"/>
              </a:rPr>
            </a:br>
            <a:br>
              <a:rPr lang="en-US" sz="3600" b="1" i="0" u="none" strike="noStrike" dirty="0">
                <a:effectLst/>
                <a:latin typeface="Times New Roman" panose="02020603050405020304" pitchFamily="18" charset="0"/>
                <a:cs typeface="Times New Roman" panose="02020603050405020304" pitchFamily="18" charset="0"/>
              </a:rPr>
            </a:br>
            <a:br>
              <a:rPr lang="en-US" sz="3600" b="1" i="0" u="none" strike="noStrike" dirty="0">
                <a:effectLst/>
                <a:latin typeface="Times New Roman" panose="02020603050405020304" pitchFamily="18" charset="0"/>
                <a:cs typeface="Times New Roman" panose="02020603050405020304" pitchFamily="18" charset="0"/>
              </a:rPr>
            </a:br>
            <a:br>
              <a:rPr lang="en-US" sz="3600" b="1" i="0" u="none" strike="noStrike" dirty="0">
                <a:effectLst/>
                <a:latin typeface="Times New Roman" panose="02020603050405020304" pitchFamily="18" charset="0"/>
                <a:cs typeface="Times New Roman" panose="02020603050405020304" pitchFamily="18" charset="0"/>
              </a:rPr>
            </a:br>
            <a:br>
              <a:rPr lang="en-US" sz="3600" b="1" i="0" u="none" strike="noStrike" dirty="0">
                <a:effectLst/>
                <a:latin typeface="Times New Roman" panose="02020603050405020304" pitchFamily="18" charset="0"/>
                <a:cs typeface="Times New Roman" panose="02020603050405020304" pitchFamily="18" charset="0"/>
              </a:rPr>
            </a:br>
            <a:br>
              <a:rPr lang="en-US" sz="3600" b="1" i="0" u="none" strike="noStrike" dirty="0">
                <a:effectLst/>
                <a:latin typeface="Times New Roman" panose="02020603050405020304" pitchFamily="18" charset="0"/>
                <a:cs typeface="Times New Roman" panose="02020603050405020304" pitchFamily="18" charset="0"/>
              </a:rPr>
            </a:br>
            <a:br>
              <a:rPr lang="en-US" sz="3600" b="1" i="0" u="none" strike="noStrike" dirty="0">
                <a:effectLst/>
                <a:latin typeface="Times New Roman" panose="02020603050405020304" pitchFamily="18" charset="0"/>
                <a:cs typeface="Times New Roman" panose="02020603050405020304" pitchFamily="18" charset="0"/>
              </a:rPr>
            </a:br>
            <a:br>
              <a:rPr lang="en-US" sz="3600" b="1" i="0" u="none" strike="noStrike" dirty="0">
                <a:effectLst/>
                <a:latin typeface="Times New Roman" panose="02020603050405020304" pitchFamily="18" charset="0"/>
                <a:cs typeface="Times New Roman" panose="02020603050405020304" pitchFamily="18" charset="0"/>
              </a:rPr>
            </a:br>
            <a:br>
              <a:rPr lang="en-US" sz="3600" b="1" i="0" u="none" strike="noStrike" dirty="0">
                <a:effectLst/>
                <a:latin typeface="Times New Roman" panose="02020603050405020304" pitchFamily="18" charset="0"/>
                <a:cs typeface="Times New Roman" panose="02020603050405020304" pitchFamily="18" charset="0"/>
              </a:rPr>
            </a:br>
            <a:br>
              <a:rPr lang="en-US" sz="3600" b="1" i="0" u="none" strike="noStrike" dirty="0">
                <a:effectLst/>
                <a:latin typeface="Times New Roman" panose="02020603050405020304" pitchFamily="18" charset="0"/>
                <a:cs typeface="Times New Roman" panose="02020603050405020304" pitchFamily="18" charset="0"/>
              </a:rPr>
            </a:br>
            <a:br>
              <a:rPr lang="en-US" sz="3600" b="1" i="0" u="none" strike="noStrike" dirty="0">
                <a:effectLst/>
                <a:latin typeface="Times New Roman" panose="02020603050405020304" pitchFamily="18" charset="0"/>
                <a:cs typeface="Times New Roman" panose="02020603050405020304" pitchFamily="18" charset="0"/>
              </a:rPr>
            </a:br>
            <a:br>
              <a:rPr lang="en-US" sz="3600" b="1" i="0" u="none" strike="noStrike" dirty="0">
                <a:effectLst/>
                <a:latin typeface="Times New Roman" panose="02020603050405020304" pitchFamily="18" charset="0"/>
                <a:cs typeface="Times New Roman" panose="02020603050405020304" pitchFamily="18" charset="0"/>
              </a:rPr>
            </a:br>
            <a:br>
              <a:rPr lang="en-US" sz="3600" b="1" i="0" u="none" strike="noStrike" dirty="0">
                <a:effectLst/>
                <a:latin typeface="Times New Roman" panose="02020603050405020304" pitchFamily="18" charset="0"/>
                <a:cs typeface="Times New Roman" panose="02020603050405020304" pitchFamily="18" charset="0"/>
              </a:rPr>
            </a:br>
            <a:br>
              <a:rPr lang="en-US" sz="3600" b="1" i="0" u="none" strike="noStrike" dirty="0">
                <a:effectLst/>
                <a:latin typeface="Times New Roman" panose="02020603050405020304" pitchFamily="18" charset="0"/>
                <a:cs typeface="Times New Roman" panose="02020603050405020304" pitchFamily="18" charset="0"/>
              </a:rPr>
            </a:br>
            <a:br>
              <a:rPr lang="en-US" sz="3600" b="1" i="0" u="none" strike="noStrike" dirty="0">
                <a:effectLst/>
                <a:latin typeface="Times New Roman" panose="02020603050405020304" pitchFamily="18" charset="0"/>
                <a:cs typeface="Times New Roman" panose="02020603050405020304" pitchFamily="18" charset="0"/>
              </a:rPr>
            </a:br>
            <a:br>
              <a:rPr lang="en-US" sz="3600" b="1" i="0" u="none" strike="noStrike" dirty="0">
                <a:effectLst/>
                <a:latin typeface="Times New Roman" panose="02020603050405020304" pitchFamily="18" charset="0"/>
                <a:cs typeface="Times New Roman" panose="02020603050405020304" pitchFamily="18" charset="0"/>
              </a:rPr>
            </a:br>
            <a:br>
              <a:rPr lang="en-US" sz="3600" b="1" i="0" u="none" strike="noStrike" dirty="0">
                <a:effectLst/>
                <a:latin typeface="Times New Roman" panose="02020603050405020304" pitchFamily="18" charset="0"/>
                <a:cs typeface="Times New Roman" panose="02020603050405020304" pitchFamily="18" charset="0"/>
              </a:rPr>
            </a:br>
            <a:br>
              <a:rPr lang="en-US" sz="3600" b="1" i="0" u="none" strike="noStrike" dirty="0">
                <a:effectLst/>
                <a:latin typeface="Times New Roman" panose="02020603050405020304" pitchFamily="18" charset="0"/>
                <a:cs typeface="Times New Roman" panose="02020603050405020304" pitchFamily="18" charset="0"/>
              </a:rPr>
            </a:br>
            <a:br>
              <a:rPr lang="en-US" sz="3600" b="1" i="0" u="none" strike="noStrike" dirty="0">
                <a:effectLst/>
                <a:latin typeface="Times New Roman" panose="02020603050405020304" pitchFamily="18" charset="0"/>
                <a:cs typeface="Times New Roman" panose="02020603050405020304" pitchFamily="18" charset="0"/>
              </a:rPr>
            </a:br>
            <a:br>
              <a:rPr lang="en-US" sz="3600" b="1" i="0" u="none" strike="noStrike" dirty="0">
                <a:effectLst/>
                <a:latin typeface="Times New Roman" panose="02020603050405020304" pitchFamily="18" charset="0"/>
                <a:cs typeface="Times New Roman" panose="02020603050405020304" pitchFamily="18" charset="0"/>
              </a:rPr>
            </a:br>
            <a:br>
              <a:rPr lang="en-US" sz="3600" b="1" i="0" u="none" strike="noStrike" dirty="0">
                <a:effectLst/>
                <a:latin typeface="Times New Roman" panose="02020603050405020304" pitchFamily="18" charset="0"/>
                <a:cs typeface="Times New Roman" panose="02020603050405020304" pitchFamily="18" charset="0"/>
              </a:rPr>
            </a:br>
            <a:br>
              <a:rPr lang="en-US" sz="3600" b="1" i="0" u="none" strike="noStrike" dirty="0">
                <a:effectLst/>
                <a:latin typeface="Times New Roman" panose="02020603050405020304" pitchFamily="18" charset="0"/>
                <a:cs typeface="Times New Roman" panose="02020603050405020304" pitchFamily="18" charset="0"/>
              </a:rPr>
            </a:br>
            <a:br>
              <a:rPr lang="en-US" sz="3600" b="1" i="0" u="none" strike="noStrike" dirty="0">
                <a:effectLst/>
                <a:latin typeface="Times New Roman" panose="02020603050405020304" pitchFamily="18" charset="0"/>
                <a:cs typeface="Times New Roman" panose="02020603050405020304" pitchFamily="18" charset="0"/>
              </a:rPr>
            </a:br>
            <a:r>
              <a:rPr lang="en-US" sz="3600" b="1" i="0" u="none" strike="noStrike" dirty="0">
                <a:effectLst/>
                <a:latin typeface="Times New Roman" panose="02020603050405020304" pitchFamily="18" charset="0"/>
                <a:cs typeface="Times New Roman" panose="02020603050405020304" pitchFamily="18" charset="0"/>
              </a:rPr>
              <a:t>TOPIC :Virtual Reality In Military And Defense</a:t>
            </a:r>
            <a:br>
              <a:rPr lang="en-US" dirty="0"/>
            </a:br>
            <a:endParaRPr lang="en-IN" dirty="0"/>
          </a:p>
        </p:txBody>
      </p:sp>
      <p:sp>
        <p:nvSpPr>
          <p:cNvPr id="3" name="Subtitle 2">
            <a:extLst>
              <a:ext uri="{FF2B5EF4-FFF2-40B4-BE49-F238E27FC236}">
                <a16:creationId xmlns:a16="http://schemas.microsoft.com/office/drawing/2014/main" id="{92AB489A-1EA6-7BE2-2657-0042A7C451D8}"/>
              </a:ext>
            </a:extLst>
          </p:cNvPr>
          <p:cNvSpPr>
            <a:spLocks noGrp="1"/>
          </p:cNvSpPr>
          <p:nvPr>
            <p:ph type="subTitle" idx="1"/>
          </p:nvPr>
        </p:nvSpPr>
        <p:spPr/>
        <p:txBody>
          <a:bodyPr/>
          <a:lstStyle/>
          <a:p>
            <a:r>
              <a:rPr lang="en-US" dirty="0"/>
              <a:t>Prinshi Jha </a:t>
            </a:r>
          </a:p>
          <a:p>
            <a:r>
              <a:rPr lang="en-US" dirty="0"/>
              <a:t>CSE(DS)/23</a:t>
            </a:r>
            <a:endParaRPr lang="en-IN" dirty="0"/>
          </a:p>
        </p:txBody>
      </p:sp>
    </p:spTree>
    <p:extLst>
      <p:ext uri="{BB962C8B-B14F-4D97-AF65-F5344CB8AC3E}">
        <p14:creationId xmlns:p14="http://schemas.microsoft.com/office/powerpoint/2010/main" val="2388598700"/>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67BA4-3127-8D96-38A9-6FC460D5CC91}"/>
              </a:ext>
            </a:extLst>
          </p:cNvPr>
          <p:cNvSpPr>
            <a:spLocks noGrp="1"/>
          </p:cNvSpPr>
          <p:nvPr>
            <p:ph type="title"/>
          </p:nvPr>
        </p:nvSpPr>
        <p:spPr/>
        <p:txBody>
          <a:bodyPr>
            <a:noAutofit/>
          </a:bodyPr>
          <a:lstStyle/>
          <a:p>
            <a:pPr rtl="0">
              <a:spcBef>
                <a:spcPts val="0"/>
              </a:spcBef>
              <a:spcAft>
                <a:spcPts val="0"/>
              </a:spcAft>
            </a:pPr>
            <a:r>
              <a:rPr lang="en-US" sz="3200" b="1" i="0" u="none" strike="noStrike" dirty="0">
                <a:effectLst/>
                <a:latin typeface="Times New Roman" panose="02020603050405020304" pitchFamily="18" charset="0"/>
                <a:cs typeface="Times New Roman" panose="02020603050405020304" pitchFamily="18" charset="0"/>
              </a:rPr>
              <a:t>What is Virtual Reality in Military And Defense?</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7E1E61A-D6DF-657F-B8BB-9C7099678F90}"/>
              </a:ext>
            </a:extLst>
          </p:cNvPr>
          <p:cNvSpPr>
            <a:spLocks noGrp="1"/>
          </p:cNvSpPr>
          <p:nvPr>
            <p:ph idx="1"/>
          </p:nvPr>
        </p:nvSpPr>
        <p:spPr>
          <a:xfrm>
            <a:off x="913796" y="2096064"/>
            <a:ext cx="7466879" cy="3695136"/>
          </a:xfrm>
        </p:spPr>
        <p:txBody>
          <a:bodyPr>
            <a:normAutofit fontScale="92500" lnSpcReduction="20000"/>
          </a:bodyPr>
          <a:lstStyle/>
          <a:p>
            <a:r>
              <a:rPr lang="en-US" sz="1800" b="0" i="0" u="none" strike="noStrike" dirty="0">
                <a:effectLst/>
                <a:latin typeface="Times New Roman" panose="02020603050405020304" pitchFamily="18" charset="0"/>
              </a:rPr>
              <a:t>In the military and defense industries, virtual technology is utilized to develop simulated environments, systems, and training scenarios that closely resemble actual circumstances. </a:t>
            </a:r>
          </a:p>
          <a:p>
            <a:r>
              <a:rPr lang="en-US" sz="1800" b="0" i="0" u="none" strike="noStrike" dirty="0">
                <a:effectLst/>
                <a:latin typeface="Times New Roman" panose="02020603050405020304" pitchFamily="18" charset="0"/>
              </a:rPr>
              <a:t>These programs have a variety of uses, including analysis, planning, and training. </a:t>
            </a:r>
          </a:p>
          <a:p>
            <a:r>
              <a:rPr lang="en-US" sz="1800" dirty="0">
                <a:effectLst/>
                <a:latin typeface="Times New Roman" panose="02020603050405020304" pitchFamily="18" charset="0"/>
              </a:rPr>
              <a:t>T</a:t>
            </a:r>
            <a:r>
              <a:rPr lang="en-US" sz="1800" b="0" i="0" u="none" strike="noStrike" dirty="0">
                <a:effectLst/>
                <a:latin typeface="Times New Roman" panose="02020603050405020304" pitchFamily="18" charset="0"/>
              </a:rPr>
              <a:t>hey offer practical practice using sophisticated military technology without the need for any physical apparatus. </a:t>
            </a:r>
          </a:p>
          <a:p>
            <a:r>
              <a:rPr lang="en-US" sz="1800" b="0" i="0" u="none" strike="noStrike" dirty="0">
                <a:effectLst/>
                <a:latin typeface="Times New Roman" panose="02020603050405020304" pitchFamily="18" charset="0"/>
              </a:rPr>
              <a:t>These simulations aid in risk assessment, resource optimization, and improved strategic decision-making.</a:t>
            </a:r>
          </a:p>
          <a:p>
            <a:r>
              <a:rPr lang="en-US" sz="1800" b="0" i="0" u="none" strike="noStrike" dirty="0">
                <a:effectLst/>
                <a:latin typeface="Times New Roman" panose="02020603050405020304" pitchFamily="18" charset="0"/>
              </a:rPr>
              <a:t>The military and defense industries can increase training performance, strategic preparation, and operational effectiveness by utilizing virtual technology in a controlled and secure environment.</a:t>
            </a:r>
            <a:endParaRPr lang="en-IN" dirty="0"/>
          </a:p>
        </p:txBody>
      </p:sp>
      <p:pic>
        <p:nvPicPr>
          <p:cNvPr id="1026" name="Picture 2">
            <a:extLst>
              <a:ext uri="{FF2B5EF4-FFF2-40B4-BE49-F238E27FC236}">
                <a16:creationId xmlns:a16="http://schemas.microsoft.com/office/drawing/2014/main" id="{1D93B0D9-5F82-B756-6259-D56E62B628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15474" y="2042830"/>
            <a:ext cx="2619375" cy="174307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0366D58F-17F8-7928-AA25-B04A65E1BD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15474" y="4007243"/>
            <a:ext cx="2857500"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959705"/>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2ACC3-1A2A-8A6F-91D6-9B878FBB71B2}"/>
              </a:ext>
            </a:extLst>
          </p:cNvPr>
          <p:cNvSpPr>
            <a:spLocks noGrp="1"/>
          </p:cNvSpPr>
          <p:nvPr>
            <p:ph type="title"/>
          </p:nvPr>
        </p:nvSpPr>
        <p:spPr/>
        <p:txBody>
          <a:bodyPr>
            <a:normAutofit fontScale="90000"/>
          </a:bodyPr>
          <a:lstStyle/>
          <a:p>
            <a:pPr rtl="0">
              <a:spcBef>
                <a:spcPts val="0"/>
              </a:spcBef>
              <a:spcAft>
                <a:spcPts val="0"/>
              </a:spcAft>
            </a:pPr>
            <a:br>
              <a:rPr lang="en-US" sz="3600" b="1" i="0" u="none" strike="noStrike" dirty="0">
                <a:effectLst/>
                <a:latin typeface="Times New Roman" panose="02020603050405020304" pitchFamily="18" charset="0"/>
              </a:rPr>
            </a:br>
            <a:br>
              <a:rPr lang="en-US" sz="3600" b="1" i="0" u="none" strike="noStrike" dirty="0">
                <a:effectLst/>
                <a:latin typeface="Times New Roman" panose="02020603050405020304" pitchFamily="18" charset="0"/>
              </a:rPr>
            </a:br>
            <a:r>
              <a:rPr lang="en-US" sz="3600" b="1" i="0" u="none" strike="noStrike" dirty="0">
                <a:effectLst/>
                <a:latin typeface="Times New Roman" panose="02020603050405020304" pitchFamily="18" charset="0"/>
              </a:rPr>
              <a:t>Some examples of VR in Military And Defense</a:t>
            </a:r>
            <a:br>
              <a:rPr lang="en-US" sz="1600" b="0" dirty="0">
                <a:effectLst/>
              </a:rPr>
            </a:br>
            <a:br>
              <a:rPr lang="en-US" sz="1600" dirty="0"/>
            </a:br>
            <a:endParaRPr lang="en-IN" sz="3200" dirty="0"/>
          </a:p>
        </p:txBody>
      </p:sp>
      <p:sp>
        <p:nvSpPr>
          <p:cNvPr id="3" name="Content Placeholder 2">
            <a:extLst>
              <a:ext uri="{FF2B5EF4-FFF2-40B4-BE49-F238E27FC236}">
                <a16:creationId xmlns:a16="http://schemas.microsoft.com/office/drawing/2014/main" id="{80EDDE9D-2FA9-A29F-832E-9DFA3340A7A2}"/>
              </a:ext>
            </a:extLst>
          </p:cNvPr>
          <p:cNvSpPr>
            <a:spLocks noGrp="1"/>
          </p:cNvSpPr>
          <p:nvPr>
            <p:ph idx="1"/>
          </p:nvPr>
        </p:nvSpPr>
        <p:spPr>
          <a:xfrm>
            <a:off x="913795" y="2096063"/>
            <a:ext cx="10353762" cy="4272931"/>
          </a:xfrm>
        </p:spPr>
        <p:txBody>
          <a:bodyPr/>
          <a:lstStyle/>
          <a:p>
            <a:r>
              <a:rPr lang="en-US" sz="1800" b="1" i="0" u="none" strike="noStrike" dirty="0">
                <a:effectLst/>
                <a:latin typeface="Times New Roman" panose="02020603050405020304" pitchFamily="18" charset="0"/>
              </a:rPr>
              <a:t>Vehicle and Weapon Training: </a:t>
            </a:r>
            <a:r>
              <a:rPr lang="en-US" sz="1800" b="0" i="0" u="none" strike="noStrike" dirty="0">
                <a:effectLst/>
                <a:latin typeface="Times New Roman" panose="02020603050405020304" pitchFamily="18" charset="0"/>
              </a:rPr>
              <a:t>Through VR technology, military personnel can receive practical training for using and maintaining a variety of vehicles, planes, and weapons. Without physical resources, trainees might become comfortable with complex machines and systems.</a:t>
            </a:r>
          </a:p>
          <a:p>
            <a:r>
              <a:rPr lang="en-IN" sz="1800" dirty="0">
                <a:latin typeface="Times New Roman" panose="02020603050405020304" pitchFamily="18" charset="0"/>
                <a:cs typeface="Times New Roman" panose="02020603050405020304" pitchFamily="18" charset="0"/>
              </a:rPr>
              <a:t>  </a:t>
            </a:r>
            <a:r>
              <a:rPr lang="en-US" sz="1800" b="1" i="0" u="none" strike="noStrike" dirty="0">
                <a:effectLst/>
                <a:latin typeface="Times New Roman" panose="02020603050405020304" pitchFamily="18" charset="0"/>
              </a:rPr>
              <a:t>Medical Training Simulation: </a:t>
            </a:r>
            <a:r>
              <a:rPr lang="en-US" sz="1800" b="0" i="0" u="none" strike="noStrike" dirty="0">
                <a:effectLst/>
                <a:latin typeface="Times New Roman" panose="02020603050405020304" pitchFamily="18" charset="0"/>
              </a:rPr>
              <a:t>Military doctors are able to perform crucial operations and emergency interventions in simulated high-stress conditions thanks to the use of VR to develop lifelike medical training simulators. They are better prepared for actual battlefield medical emergencies thanks to this kind of training. </a:t>
            </a:r>
          </a:p>
          <a:p>
            <a:r>
              <a:rPr lang="en-US" sz="1800" b="1" i="0" u="none" strike="noStrike" dirty="0">
                <a:effectLst/>
                <a:latin typeface="Times New Roman" panose="02020603050405020304" pitchFamily="18" charset="0"/>
              </a:rPr>
              <a:t>Virtual Tactical Planning: </a:t>
            </a:r>
            <a:r>
              <a:rPr lang="en-US" sz="1800" b="0" i="0" u="none" strike="noStrike" dirty="0">
                <a:effectLst/>
                <a:latin typeface="Times New Roman" panose="02020603050405020304" pitchFamily="18" charset="0"/>
              </a:rPr>
              <a:t>VR simulations are used by military officials to plan and carry out tactical actions. By realistically simulating various scenarios and tactics, they can predict results, allocate resources more efficiently, and create mission plans that work. </a:t>
            </a:r>
          </a:p>
          <a:p>
            <a:endParaRPr lang="en-US" sz="1800" b="0" i="0" u="none" strike="noStrike" dirty="0">
              <a:effectLst/>
              <a:latin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4876572"/>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83935-5585-94FE-5C35-2EFE438D855D}"/>
              </a:ext>
            </a:extLst>
          </p:cNvPr>
          <p:cNvSpPr>
            <a:spLocks noGrp="1"/>
          </p:cNvSpPr>
          <p:nvPr>
            <p:ph type="title"/>
          </p:nvPr>
        </p:nvSpPr>
        <p:spPr/>
        <p:txBody>
          <a:bodyPr>
            <a:normAutofit/>
          </a:bodyPr>
          <a:lstStyle/>
          <a:p>
            <a:pPr rtl="0">
              <a:spcBef>
                <a:spcPts val="0"/>
              </a:spcBef>
              <a:spcAft>
                <a:spcPts val="0"/>
              </a:spcAft>
            </a:pPr>
            <a:r>
              <a:rPr lang="en-US" sz="3200" b="1" i="0" u="none" strike="noStrike" dirty="0">
                <a:effectLst/>
                <a:latin typeface="Times New Roman" panose="02020603050405020304" pitchFamily="18" charset="0"/>
              </a:rPr>
              <a:t>Benefits of VR in Military And </a:t>
            </a:r>
            <a:br>
              <a:rPr lang="en-US" sz="3200" b="1" i="0" u="none" strike="noStrike" dirty="0">
                <a:effectLst/>
                <a:latin typeface="Times New Roman" panose="02020603050405020304" pitchFamily="18" charset="0"/>
              </a:rPr>
            </a:br>
            <a:r>
              <a:rPr lang="en-US" sz="3200" b="1" i="0" u="none" strike="noStrike" dirty="0">
                <a:effectLst/>
                <a:latin typeface="Times New Roman" panose="02020603050405020304" pitchFamily="18" charset="0"/>
              </a:rPr>
              <a:t>Defense</a:t>
            </a:r>
            <a:endParaRPr lang="en-IN" sz="3200" dirty="0"/>
          </a:p>
        </p:txBody>
      </p:sp>
      <p:sp>
        <p:nvSpPr>
          <p:cNvPr id="3" name="Content Placeholder 2">
            <a:extLst>
              <a:ext uri="{FF2B5EF4-FFF2-40B4-BE49-F238E27FC236}">
                <a16:creationId xmlns:a16="http://schemas.microsoft.com/office/drawing/2014/main" id="{0413BE7C-7EE2-973F-A72E-3E02D6D2B874}"/>
              </a:ext>
            </a:extLst>
          </p:cNvPr>
          <p:cNvSpPr>
            <a:spLocks noGrp="1"/>
          </p:cNvSpPr>
          <p:nvPr>
            <p:ph idx="1"/>
          </p:nvPr>
        </p:nvSpPr>
        <p:spPr/>
        <p:txBody>
          <a:bodyPr/>
          <a:lstStyle/>
          <a:p>
            <a:r>
              <a:rPr lang="en-IN" b="1" i="0" u="none" strike="noStrike" dirty="0">
                <a:effectLst/>
                <a:latin typeface="Times New Roman" panose="02020603050405020304" pitchFamily="18" charset="0"/>
              </a:rPr>
              <a:t>Enhanced Training:</a:t>
            </a:r>
          </a:p>
          <a:p>
            <a:r>
              <a:rPr lang="en-IN" sz="1800" b="1" i="0" u="none" strike="noStrike" dirty="0">
                <a:effectLst/>
                <a:latin typeface="Times New Roman" panose="02020603050405020304" pitchFamily="18" charset="0"/>
              </a:rPr>
              <a:t>Cost Efficiency:</a:t>
            </a:r>
            <a:endParaRPr lang="en-IN" sz="1800" b="1" dirty="0">
              <a:effectLst/>
              <a:latin typeface="Times New Roman" panose="02020603050405020304" pitchFamily="18" charset="0"/>
            </a:endParaRPr>
          </a:p>
          <a:p>
            <a:r>
              <a:rPr lang="en-IN" sz="1800" b="1" i="0" u="none" strike="noStrike" dirty="0">
                <a:effectLst/>
                <a:latin typeface="Times New Roman" panose="02020603050405020304" pitchFamily="18" charset="0"/>
              </a:rPr>
              <a:t>Risk Reduction:</a:t>
            </a:r>
          </a:p>
          <a:p>
            <a:r>
              <a:rPr lang="en-IN" sz="1800" b="1" i="0" u="none" strike="noStrike" dirty="0">
                <a:effectLst/>
                <a:latin typeface="Times New Roman" panose="02020603050405020304" pitchFamily="18" charset="0"/>
              </a:rPr>
              <a:t>Realistic Experience:</a:t>
            </a:r>
            <a:endParaRPr lang="en-IN" dirty="0"/>
          </a:p>
        </p:txBody>
      </p:sp>
    </p:spTree>
    <p:extLst>
      <p:ext uri="{BB962C8B-B14F-4D97-AF65-F5344CB8AC3E}">
        <p14:creationId xmlns:p14="http://schemas.microsoft.com/office/powerpoint/2010/main" val="2955150087"/>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61D75-C807-29C8-17D4-1AC21804DF74}"/>
              </a:ext>
            </a:extLst>
          </p:cNvPr>
          <p:cNvSpPr>
            <a:spLocks noGrp="1"/>
          </p:cNvSpPr>
          <p:nvPr>
            <p:ph type="title"/>
          </p:nvPr>
        </p:nvSpPr>
        <p:spPr/>
        <p:txBody>
          <a:bodyPr>
            <a:normAutofit/>
          </a:bodyPr>
          <a:lstStyle/>
          <a:p>
            <a:r>
              <a:rPr lang="en-IN" sz="3200" b="1" dirty="0">
                <a:effectLst/>
                <a:latin typeface="Times New Roman" panose="02020603050405020304" pitchFamily="18" charset="0"/>
                <a:ea typeface="Times New Roman" panose="02020603050405020304" pitchFamily="18" charset="0"/>
              </a:rPr>
              <a:t>Application of VR in Military And </a:t>
            </a:r>
            <a:r>
              <a:rPr lang="en-IN" sz="3200" b="1" dirty="0" err="1">
                <a:effectLst/>
                <a:latin typeface="Times New Roman" panose="02020603050405020304" pitchFamily="18" charset="0"/>
                <a:ea typeface="Times New Roman" panose="02020603050405020304" pitchFamily="18" charset="0"/>
              </a:rPr>
              <a:t>Defense</a:t>
            </a:r>
            <a:endParaRPr lang="en-IN" sz="3200" dirty="0"/>
          </a:p>
        </p:txBody>
      </p:sp>
      <p:sp>
        <p:nvSpPr>
          <p:cNvPr id="3" name="Content Placeholder 2">
            <a:extLst>
              <a:ext uri="{FF2B5EF4-FFF2-40B4-BE49-F238E27FC236}">
                <a16:creationId xmlns:a16="http://schemas.microsoft.com/office/drawing/2014/main" id="{2372BEA5-4442-E28F-809C-144B6439299F}"/>
              </a:ext>
            </a:extLst>
          </p:cNvPr>
          <p:cNvSpPr>
            <a:spLocks noGrp="1"/>
          </p:cNvSpPr>
          <p:nvPr>
            <p:ph idx="1"/>
          </p:nvPr>
        </p:nvSpPr>
        <p:spPr/>
        <p:txBody>
          <a:bodyPr>
            <a:normAutofit fontScale="85000" lnSpcReduction="20000"/>
          </a:bodyPr>
          <a:lstStyle/>
          <a:p>
            <a:pPr marL="342900" lvl="0" indent="-342900">
              <a:lnSpc>
                <a:spcPct val="150000"/>
              </a:lnSpc>
              <a:buFont typeface="Arial" panose="020B0604020202020204" pitchFamily="34" charset="0"/>
              <a:buChar char="●"/>
            </a:pPr>
            <a:r>
              <a:rPr lang="en-IN" sz="2100" b="1"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Remote Collaboration and Communication: </a:t>
            </a:r>
            <a:r>
              <a:rPr lang="en-IN" sz="210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Military personnel may collaborate and communicate remotely and they can participate in virtual meetings, training sessions, and simulations from anywhere in the world.</a:t>
            </a:r>
            <a:endParaRPr lang="en-IN" sz="2100" u="none" strike="noStrike" dirty="0">
              <a:effectLst/>
              <a:latin typeface="Times New Roman" panose="02020603050405020304" pitchFamily="18" charset="0"/>
              <a:ea typeface="Arial" panose="020B0604020202020204" pitchFamily="34" charset="0"/>
              <a:cs typeface="Times New Roman" panose="02020603050405020304" pitchFamily="18" charset="0"/>
            </a:endParaRPr>
          </a:p>
          <a:p>
            <a:pPr marL="342900" lvl="0" indent="-342900">
              <a:lnSpc>
                <a:spcPct val="150000"/>
              </a:lnSpc>
              <a:buFont typeface="Arial" panose="020B0604020202020204" pitchFamily="34" charset="0"/>
              <a:buChar char="●"/>
            </a:pPr>
            <a:r>
              <a:rPr lang="en-IN" sz="2100" b="1"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Language and Cultural Training: </a:t>
            </a:r>
            <a:r>
              <a:rPr lang="en-IN" sz="210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Language acquisition, cultural awareness, and successful communication in international and multicultural operational settings are made possible by the use of virtual reality (VR) to immerse military troops in simulations that duplicate various cultural and linguistic contexts.</a:t>
            </a:r>
            <a:endParaRPr lang="en-IN" sz="2100" u="none" strike="noStrike" dirty="0">
              <a:effectLst/>
              <a:latin typeface="Times New Roman" panose="02020603050405020304" pitchFamily="18" charset="0"/>
              <a:ea typeface="Arial" panose="020B0604020202020204" pitchFamily="34" charset="0"/>
              <a:cs typeface="Times New Roman" panose="02020603050405020304" pitchFamily="18" charset="0"/>
            </a:endParaRPr>
          </a:p>
          <a:p>
            <a:pPr marL="342900" lvl="0" indent="-342900">
              <a:lnSpc>
                <a:spcPct val="150000"/>
              </a:lnSpc>
              <a:buFont typeface="Arial" panose="020B0604020202020204" pitchFamily="34" charset="0"/>
              <a:buChar char="●"/>
            </a:pPr>
            <a:r>
              <a:rPr lang="en-IN" sz="2100" b="1"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Cybersecurity Training: </a:t>
            </a:r>
            <a:r>
              <a:rPr lang="en-IN" sz="210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Military personnel are trained to handle cybersecurity threats and attacks using VR simulations.</a:t>
            </a:r>
            <a:endParaRPr lang="en-IN" sz="2100" u="none" strike="noStrike" dirty="0">
              <a:effectLst/>
              <a:latin typeface="Times New Roman" panose="02020603050405020304" pitchFamily="18" charset="0"/>
              <a:ea typeface="Arial" panose="020B060402020202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810778478"/>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814C2-8D3C-1533-474A-F223042354D9}"/>
              </a:ext>
            </a:extLst>
          </p:cNvPr>
          <p:cNvSpPr>
            <a:spLocks noGrp="1"/>
          </p:cNvSpPr>
          <p:nvPr>
            <p:ph type="title"/>
          </p:nvPr>
        </p:nvSpPr>
        <p:spPr/>
        <p:txBody>
          <a:bodyPr>
            <a:normAutofit/>
          </a:bodyPr>
          <a:lstStyle/>
          <a:p>
            <a:r>
              <a:rPr lang="en-US" sz="3200" b="1" i="0" u="none" strike="noStrike" dirty="0">
                <a:effectLst/>
                <a:latin typeface="Times New Roman" panose="02020603050405020304" pitchFamily="18" charset="0"/>
                <a:cs typeface="Times New Roman" panose="02020603050405020304" pitchFamily="18" charset="0"/>
              </a:rPr>
              <a:t>Challenges of VR in Military And Defense:</a:t>
            </a:r>
            <a:br>
              <a:rPr lang="en-US" sz="3200" b="0" dirty="0">
                <a:effectLst/>
                <a:latin typeface="Times New Roman" panose="02020603050405020304" pitchFamily="18" charset="0"/>
                <a:cs typeface="Times New Roman" panose="02020603050405020304" pitchFamily="18" charset="0"/>
              </a:rPr>
            </a:b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1953C40-B758-2ACF-960E-7424AEDD6140}"/>
              </a:ext>
            </a:extLst>
          </p:cNvPr>
          <p:cNvSpPr>
            <a:spLocks noGrp="1"/>
          </p:cNvSpPr>
          <p:nvPr>
            <p:ph idx="1"/>
          </p:nvPr>
        </p:nvSpPr>
        <p:spPr>
          <a:xfrm>
            <a:off x="913795" y="1773141"/>
            <a:ext cx="10559936" cy="4802587"/>
          </a:xfrm>
        </p:spPr>
        <p:txBody>
          <a:bodyPr>
            <a:noAutofit/>
          </a:bodyPr>
          <a:lstStyle/>
          <a:p>
            <a:r>
              <a:rPr lang="en-IN" sz="1800" b="1" i="0" u="none" strike="noStrike" dirty="0">
                <a:effectLst/>
                <a:latin typeface="Times New Roman" panose="02020603050405020304" pitchFamily="18" charset="0"/>
              </a:rPr>
              <a:t>Technological Complexity: I</a:t>
            </a:r>
            <a:r>
              <a:rPr lang="en-IN" sz="1800" b="1" dirty="0">
                <a:effectLst/>
                <a:latin typeface="Times New Roman" panose="02020603050405020304" pitchFamily="18" charset="0"/>
              </a:rPr>
              <a:t>t </a:t>
            </a:r>
            <a:r>
              <a:rPr lang="en-US" sz="1800" b="0" i="0" dirty="0">
                <a:effectLst/>
                <a:latin typeface="Times New Roman" panose="02020603050405020304" pitchFamily="18" charset="0"/>
                <a:cs typeface="Times New Roman" panose="02020603050405020304" pitchFamily="18" charset="0"/>
              </a:rPr>
              <a:t>may provide difficulties for system integration and interoperability with current infrastructure.</a:t>
            </a:r>
            <a:endParaRPr lang="en-IN" sz="1800" b="1" i="0" u="none" strike="noStrike" dirty="0">
              <a:effectLst/>
              <a:latin typeface="Times New Roman" panose="02020603050405020304" pitchFamily="18" charset="0"/>
              <a:cs typeface="Times New Roman" panose="02020603050405020304" pitchFamily="18" charset="0"/>
            </a:endParaRPr>
          </a:p>
          <a:p>
            <a:r>
              <a:rPr lang="en-IN" sz="1800" b="1" i="0" u="none" strike="noStrike" dirty="0">
                <a:effectLst/>
                <a:latin typeface="Times New Roman" panose="02020603050405020304" pitchFamily="18" charset="0"/>
              </a:rPr>
              <a:t>Cost and Budget Constraints:</a:t>
            </a:r>
            <a:r>
              <a:rPr lang="en-US" sz="1800" b="0" i="0" dirty="0">
                <a:effectLst/>
                <a:latin typeface="Times New Roman" panose="02020603050405020304" pitchFamily="18" charset="0"/>
                <a:cs typeface="Times New Roman" panose="02020603050405020304" pitchFamily="18" charset="0"/>
              </a:rPr>
              <a:t>The adoption of virtual reality (VR) frequently entails high expenditures for software development, hardware, and continues maintenance</a:t>
            </a:r>
            <a:endParaRPr lang="en-IN" sz="1800" b="1" dirty="0">
              <a:effectLst/>
              <a:latin typeface="Times New Roman" panose="02020603050405020304" pitchFamily="18" charset="0"/>
              <a:cs typeface="Times New Roman" panose="02020603050405020304" pitchFamily="18" charset="0"/>
            </a:endParaRPr>
          </a:p>
          <a:p>
            <a:r>
              <a:rPr lang="en-IN" sz="1800" b="1" i="0" u="none" strike="noStrike" dirty="0">
                <a:effectLst/>
                <a:latin typeface="Times New Roman" panose="02020603050405020304" pitchFamily="18" charset="0"/>
              </a:rPr>
              <a:t>Cybersecurity Risks:</a:t>
            </a:r>
            <a:r>
              <a:rPr lang="en-US" sz="1800" b="0" i="0" dirty="0">
                <a:effectLst/>
                <a:latin typeface="Times New Roman" panose="02020603050405020304" pitchFamily="18" charset="0"/>
                <a:cs typeface="Times New Roman" panose="02020603050405020304" pitchFamily="18" charset="0"/>
              </a:rPr>
              <a:t>VR systems connected to military networks may pose cybersecurity risks, potentially compromising operational security and revealing critical data if not adequately secured.</a:t>
            </a:r>
            <a:endParaRPr lang="en-IN" sz="1800" b="1" i="0" u="none" strike="noStrike" dirty="0">
              <a:effectLst/>
              <a:latin typeface="Times New Roman" panose="02020603050405020304" pitchFamily="18" charset="0"/>
              <a:cs typeface="Times New Roman" panose="02020603050405020304" pitchFamily="18" charset="0"/>
            </a:endParaRPr>
          </a:p>
          <a:p>
            <a:r>
              <a:rPr lang="en-IN" sz="1800" b="1" i="0" u="none" strike="noStrike" dirty="0">
                <a:effectLst/>
                <a:latin typeface="Times New Roman" panose="02020603050405020304" pitchFamily="18" charset="0"/>
              </a:rPr>
              <a:t>Training Adaptation and Integration:</a:t>
            </a:r>
            <a:r>
              <a:rPr lang="en-US" sz="1800" b="0" i="0" dirty="0">
                <a:effectLst/>
                <a:latin typeface="Times New Roman" panose="02020603050405020304" pitchFamily="18" charset="0"/>
                <a:cs typeface="Times New Roman" panose="02020603050405020304" pitchFamily="18" charset="0"/>
              </a:rPr>
              <a:t>The integration of virtual reality (VR) training into current military training programs may necessitate significant changes to the curriculum, procedures, and teaching strategies.</a:t>
            </a:r>
            <a:endParaRPr lang="en-IN" sz="1800" b="1" dirty="0">
              <a:effectLst/>
              <a:latin typeface="Times New Roman" panose="02020603050405020304" pitchFamily="18" charset="0"/>
              <a:cs typeface="Times New Roman" panose="02020603050405020304" pitchFamily="18" charset="0"/>
            </a:endParaRPr>
          </a:p>
          <a:p>
            <a:r>
              <a:rPr lang="en-IN" sz="1800" b="1" i="0" u="none" strike="noStrike" dirty="0">
                <a:effectLst/>
                <a:latin typeface="Times New Roman" panose="02020603050405020304" pitchFamily="18" charset="0"/>
              </a:rPr>
              <a:t>Physical and Cognitive Impacts:</a:t>
            </a:r>
            <a:r>
              <a:rPr lang="en-US" sz="1800" b="0" i="0" dirty="0">
                <a:effectLst/>
                <a:latin typeface="Times New Roman" panose="02020603050405020304" pitchFamily="18" charset="0"/>
                <a:cs typeface="Times New Roman" panose="02020603050405020304" pitchFamily="18" charset="0"/>
              </a:rPr>
              <a:t>The prolonged use of VR systems can lead to cognitive issues like sensory overload, decreased situational awareness, operational awareness issues, and physical discomfort like motion sickness and eyestrain.</a:t>
            </a:r>
            <a:br>
              <a:rPr lang="en-US" sz="18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1392542"/>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DEEBC20-B3A9-17FD-3631-A0A2F33274C9}"/>
              </a:ext>
            </a:extLst>
          </p:cNvPr>
          <p:cNvSpPr>
            <a:spLocks noGrp="1"/>
          </p:cNvSpPr>
          <p:nvPr>
            <p:ph type="title"/>
          </p:nvPr>
        </p:nvSpPr>
        <p:spPr>
          <a:xfrm>
            <a:off x="919119" y="2765839"/>
            <a:ext cx="10353761" cy="1326321"/>
          </a:xfrm>
        </p:spPr>
        <p:txBody>
          <a:bodyPr>
            <a:normAutofit/>
          </a:bodyPr>
          <a:lstStyle/>
          <a:p>
            <a:r>
              <a:rPr lang="en-US" sz="6600" i="1" dirty="0">
                <a:latin typeface="Times New Roman" panose="02020603050405020304" pitchFamily="18" charset="0"/>
                <a:cs typeface="Times New Roman" panose="02020603050405020304" pitchFamily="18" charset="0"/>
              </a:rPr>
              <a:t>Thank You</a:t>
            </a:r>
            <a:endParaRPr lang="en-IN" sz="66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5018947"/>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Damask</Template>
  <TotalTime>102</TotalTime>
  <Words>591</Words>
  <Application>Microsoft Office PowerPoint</Application>
  <PresentationFormat>Widescreen</PresentationFormat>
  <Paragraphs>29</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Bookman Old Style</vt:lpstr>
      <vt:lpstr>Rockwell</vt:lpstr>
      <vt:lpstr>Times New Roman</vt:lpstr>
      <vt:lpstr>Damask</vt:lpstr>
      <vt:lpstr>                                             TOPIC :Virtual Reality In Military And Defense </vt:lpstr>
      <vt:lpstr>What is Virtual Reality in Military And Defense?</vt:lpstr>
      <vt:lpstr>  Some examples of VR in Military And Defense  </vt:lpstr>
      <vt:lpstr>Benefits of VR in Military And  Defense</vt:lpstr>
      <vt:lpstr>Application of VR in Military And Defense</vt:lpstr>
      <vt:lpstr>Challenges of VR in Military And Defense: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TOPIC :Virtual Reality In Military And Defense </dc:title>
  <dc:creator>EKTA JHA</dc:creator>
  <cp:lastModifiedBy>EKTA JHA</cp:lastModifiedBy>
  <cp:revision>6</cp:revision>
  <dcterms:created xsi:type="dcterms:W3CDTF">2023-10-16T01:47:00Z</dcterms:created>
  <dcterms:modified xsi:type="dcterms:W3CDTF">2023-11-01T18:35:19Z</dcterms:modified>
</cp:coreProperties>
</file>